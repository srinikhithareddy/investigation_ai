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Verdana" panose="020B0604030504040204"/>
              </a:defRPr>
            </a:pPr>
            <a:r>
              <a:t>AUTONOMOUS MULTI-AGENT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Georgia" panose="02040502050405020303"/>
              </a:defRPr>
            </a:pPr>
            <a:r>
              <a:t>Project Muggles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  <a:latin typeface="Verdana" panose="020B0604030504040204"/>
              </a:defRPr>
            </a:pPr>
            <a:r>
              <a:t>Autonomous Multi-Agent Incident Investigation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834640"/>
            <a:ext cx="996696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Verdana" panose="020B0604030504040204"/>
              </a:defRPr>
            </a:pPr>
            <a:r>
              <a:t>TEAM DETAILS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8FAFC"/>
                </a:solidFill>
                <a:latin typeface="Verdana" panose="020B0604030504040204"/>
              </a:rPr>
              <a:t>Team Lead:   </a:t>
            </a:r>
            <a:r>
              <a:rPr sz="1300">
                <a:solidFill>
                  <a:srgbClr val="94A3B8"/>
                </a:solidFill>
                <a:latin typeface="Verdana" panose="020B0604030504040204"/>
              </a:rPr>
              <a:t>Ch.Tejaswi (24BD1A660A)</a:t>
            </a:r>
            <a:endParaRPr sz="1300">
              <a:solidFill>
                <a:srgbClr val="94A3B8"/>
              </a:solidFill>
              <a:latin typeface="Verdana" panose="020B0604030504040204"/>
            </a:endParaRP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8FAFC"/>
                </a:solidFill>
                <a:latin typeface="Verdana" panose="020B0604030504040204"/>
              </a:rPr>
              <a:t>Members:     </a:t>
            </a:r>
            <a:r>
              <a:rPr sz="1300">
                <a:solidFill>
                  <a:srgbClr val="94A3B8"/>
                </a:solidFill>
                <a:latin typeface="Verdana" panose="020B0604030504040204"/>
              </a:rPr>
              <a:t>D.Bhavya Asmitha (24BD1A660E)</a:t>
            </a:r>
            <a:endParaRPr sz="1300">
              <a:solidFill>
                <a:srgbClr val="94A3B8"/>
              </a:solidFill>
              <a:latin typeface="Verdana" panose="020B0604030504040204"/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4A3B8"/>
                </a:solidFill>
                <a:latin typeface="Verdana" panose="020B0604030504040204"/>
              </a:rPr>
              <a:t>M.Srinikhitha Reddy (24BD1A6613)</a:t>
            </a:r>
            <a:endParaRPr sz="1300">
              <a:solidFill>
                <a:srgbClr val="94A3B8"/>
              </a:solidFill>
              <a:latin typeface="Verdana" panose="020B0604030504040204"/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4A3B8"/>
                </a:solidFill>
                <a:latin typeface="Verdana" panose="020B0604030504040204"/>
              </a:rPr>
              <a:t>V.Bhavith (24BD1A661V)</a:t>
            </a:r>
            <a:endParaRPr sz="1300">
              <a:solidFill>
                <a:srgbClr val="94A3B8"/>
              </a:solidFill>
              <a:latin typeface="Verdana" panose="020B0604030504040204"/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4A3B8"/>
                </a:solidFill>
                <a:latin typeface="Verdana" panose="020B0604030504040204"/>
              </a:rPr>
              <a:t>Y.Yasaswi Reddy (24BD1A661Z)</a:t>
            </a:r>
            <a:endParaRPr sz="1300">
              <a:solidFill>
                <a:srgbClr val="94A3B8"/>
              </a:solidFill>
              <a:latin typeface="Verdana" panose="020B060403050404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0" y="31089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Verdana" panose="020B0604030504040204"/>
              </a:defRPr>
            </a:pPr>
            <a:r>
              <a:t>REPOSITORY &amp; DELIVERABLE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F8FAFC"/>
                </a:solidFill>
                <a:latin typeface="Verdana" panose="020B0604030504040204"/>
              </a:rPr>
              <a:t>GitHub Repo:
</a:t>
            </a:r>
            <a:r>
              <a:rPr sz="1200">
                <a:solidFill>
                  <a:srgbClr val="38BDF8"/>
                </a:solidFill>
                <a:latin typeface="Verdana" panose="020B0604030504040204"/>
              </a:rPr>
              <a:t>https://github.com/tejaswichowtapelly06/investigation_ai.git</a:t>
            </a:r>
            <a:endParaRPr sz="1200">
              <a:solidFill>
                <a:srgbClr val="38BDF8"/>
              </a:solidFill>
              <a:latin typeface="Verdana" panose="020B0604030504040204"/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8FAFC"/>
                </a:solidFill>
                <a:latin typeface="Verdana" panose="020B0604030504040204"/>
              </a:rPr>
              <a:t>Core Innovation:
</a:t>
            </a:r>
            <a:r>
              <a:rPr sz="1200">
                <a:solidFill>
                  <a:srgbClr val="94A3B8"/>
                </a:solidFill>
                <a:latin typeface="Verdana" panose="020B0604030504040204"/>
              </a:rPr>
              <a:t>Connecting scattered incident evidence across postmortems, architecture notes, and deployment records into verified, document-cited findings.</a:t>
            </a:r>
            <a:endParaRPr sz="1200">
              <a:solidFill>
                <a:srgbClr val="94A3B8"/>
              </a:solidFill>
              <a:latin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Verdana" panose="020B0604030504040204"/>
              </a:defRPr>
            </a:pPr>
            <a: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 panose="02040502050405020303"/>
              </a:defRPr>
            </a:pPr>
            <a:r>
              <a:t>Scattered Evidence &amp; Conflicting Docs Delay Incident Response — Muggles Automates Multi-Source Investigation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63440" cy="399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Verdana" panose="020B0604030504040204"/>
              </a:defRPr>
            </a:pPr>
            <a:r>
              <a:t>THE OPERATIONAL BOTTLENECK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FBBF24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Verdana" panose="020B0604030504040204"/>
              </a:rPr>
              <a:t>Evidence Fragmented Across</a:t>
            </a:r>
            <a:r>
              <a:rPr lang="en-IN" sz="1300" b="1">
                <a:solidFill>
                  <a:srgbClr val="F8FAFC"/>
                </a:solidFill>
                <a:latin typeface="Verdana" panose="020B0604030504040204"/>
              </a:rPr>
              <a:t> Isolated Systems</a:t>
            </a:r>
            <a:r>
              <a:rPr sz="1300" b="1">
                <a:solidFill>
                  <a:srgbClr val="F8FAFC"/>
                </a:solidFill>
                <a:latin typeface="Verdana" panose="020B0604030504040204"/>
              </a:rPr>
              <a:t>
</a:t>
            </a:r>
            <a:endParaRPr sz="1300" b="1">
              <a:solidFill>
                <a:srgbClr val="F8FAFC"/>
              </a:solidFill>
              <a:latin typeface="Verdana" panose="020B060403050404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Verdana" panose="020B0604030504040204"/>
              </a:rPr>
              <a:t>Responders spend critical time manually searching across postmortems, deployment notes, troubleshooting guides, customer complaints, and architecture diagrams.</a:t>
            </a:r>
            <a:endParaRPr sz="1100">
              <a:solidFill>
                <a:srgbClr val="94A3B8"/>
              </a:solidFill>
              <a:latin typeface="Verdana" panose="020B0604030504040204"/>
            </a:endParaRPr>
          </a:p>
          <a:p>
            <a:pPr>
              <a:spcBef>
                <a:spcPts val="1200"/>
              </a:spcBef>
            </a:pPr>
            <a:r>
              <a:rPr b="1">
                <a:solidFill>
                  <a:srgbClr val="FBBF24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Verdana" panose="020B0604030504040204"/>
              </a:rPr>
              <a:t>Unpredictable Investigation Workflows
</a:t>
            </a:r>
            <a:endParaRPr sz="1300" b="1">
              <a:solidFill>
                <a:srgbClr val="F8FAFC"/>
              </a:solidFill>
              <a:latin typeface="Verdana" panose="020B060403050404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Verdana" panose="020B0604030504040204"/>
              </a:rPr>
              <a:t>Incidents do not follow fixed rules. Relevant clues span different document versions, use conflicting terminology, and cover varying time periods.</a:t>
            </a:r>
            <a:endParaRPr sz="1100">
              <a:solidFill>
                <a:srgbClr val="94A3B8"/>
              </a:solidFill>
              <a:latin typeface="Verdana" panose="020B0604030504040204"/>
            </a:endParaRPr>
          </a:p>
          <a:p>
            <a:pPr>
              <a:spcBef>
                <a:spcPts val="1200"/>
              </a:spcBef>
            </a:pPr>
            <a:r>
              <a:rPr b="1">
                <a:solidFill>
                  <a:srgbClr val="FBBF24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Verdana" panose="020B0604030504040204"/>
              </a:rPr>
              <a:t>Fixed Rules &amp; Basic Chatbots Fail
</a:t>
            </a:r>
            <a:endParaRPr sz="1300" b="1">
              <a:solidFill>
                <a:srgbClr val="F8FAFC"/>
              </a:solidFill>
              <a:latin typeface="Verdana" panose="020B060403050404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Verdana" panose="020B0604030504040204"/>
              </a:rPr>
              <a:t>Rule engines break on unexpected failure modes, while simple chatbots lack deep cross-document reasoning, timeline correlation, and version awareness.</a:t>
            </a:r>
            <a:endParaRPr sz="1100">
              <a:solidFill>
                <a:srgbClr val="94A3B8"/>
              </a:solidFill>
              <a:latin typeface="Verdana" panose="020B060403050404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422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936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Verdana" panose="020B0604030504040204"/>
              </a:defRPr>
            </a:pPr>
            <a:r>
              <a:t>AUTONOMOUS MULTI-AGENT SOLUTION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Verdana" panose="020B0604030504040204"/>
              </a:rPr>
              <a:t>Dynamic Lead Following
</a:t>
            </a:r>
            <a:endParaRPr sz="1300" b="1">
              <a:solidFill>
                <a:srgbClr val="F8FAFC"/>
              </a:solidFill>
              <a:latin typeface="Verdana" panose="020B060403050404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Verdana" panose="020B0604030504040204"/>
              </a:rPr>
              <a:t>Decomposes complex incident queries, generates targeted sub-questions, and dynamically follows evidence chains across document repositories.</a:t>
            </a:r>
            <a:endParaRPr sz="1100">
              <a:solidFill>
                <a:srgbClr val="94A3B8"/>
              </a:solidFill>
              <a:latin typeface="Verdana" panose="020B0604030504040204"/>
            </a:endParaRPr>
          </a:p>
          <a:p>
            <a:pPr>
              <a:spcBef>
                <a:spcPts val="1200"/>
              </a:spcBef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Verdana" panose="020B0604030504040204"/>
              </a:rPr>
              <a:t>Timeline &amp; Version Correlation
</a:t>
            </a:r>
            <a:endParaRPr sz="1300" b="1">
              <a:solidFill>
                <a:srgbClr val="F8FAFC"/>
              </a:solidFill>
              <a:latin typeface="Verdana" panose="020B060403050404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Verdana" panose="020B0604030504040204"/>
              </a:rPr>
              <a:t>Correlates service version releases with historical incident timestamps to isolate recurring anomalies and version-specific failures.</a:t>
            </a:r>
            <a:endParaRPr sz="1100">
              <a:solidFill>
                <a:srgbClr val="94A3B8"/>
              </a:solidFill>
              <a:latin typeface="Verdana" panose="020B0604030504040204"/>
            </a:endParaRPr>
          </a:p>
          <a:p>
            <a:pPr>
              <a:spcBef>
                <a:spcPts val="1200"/>
              </a:spcBef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Verdana" panose="020B0604030504040204"/>
              </a:rPr>
              <a:t>Contradiction &amp; Outdated Doc Detection
</a:t>
            </a:r>
            <a:endParaRPr sz="1300" b="1">
              <a:solidFill>
                <a:srgbClr val="F8FAFC"/>
              </a:solidFill>
              <a:latin typeface="Verdana" panose="020B0604030504040204"/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Verdana" panose="020B0604030504040204"/>
              </a:rPr>
              <a:t>Automatically detects superseded troubleshooting steps, flags conflicting instructions, and outputs transparent findings citing exact document IDs.</a:t>
            </a:r>
            <a:endParaRPr sz="1100">
              <a:solidFill>
                <a:srgbClr val="94A3B8"/>
              </a:solidFill>
              <a:latin typeface="Verdan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Verdana" panose="020B0604030504040204"/>
              </a:defRPr>
            </a:pPr>
            <a:r>
              <a:t>OPERATIONAL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 panose="02040502050405020303"/>
              </a:defRPr>
            </a:pPr>
            <a:r>
              <a:t>Muggles Transforms Incident Resolution Speed, Precision, and Confidence Across Four Key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834640"/>
                <a:gridCol w="2956255"/>
              </a:tblGrid>
              <a:tr h="87782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8FAFC"/>
                          </a:solidFill>
                          <a:latin typeface="Verdana" panose="020B0604030504040204"/>
                        </a:defRPr>
                      </a:pPr>
                      <a:r>
                        <a:t>What Changes</a:t>
                      </a:r>
                    </a:p>
                  </a:txBody>
                  <a:tcPr marL="137160" marR="137160" marT="109728" marB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BBF24"/>
                          </a:solidFill>
                          <a:latin typeface="Verdana" panose="020B0604030504040204"/>
                        </a:defRPr>
                      </a:pPr>
                      <a:r>
                        <a:t>Today (Manual)</a:t>
                      </a:r>
                    </a:p>
                  </a:txBody>
                  <a:tcPr marL="137160" marR="137160" marT="109728" marB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8BDF8"/>
                          </a:solidFill>
                          <a:latin typeface="Verdana" panose="020B0604030504040204"/>
                        </a:defRPr>
                      </a:pPr>
                      <a:r>
                        <a:t>With Our Current Build</a:t>
                      </a:r>
                    </a:p>
                  </a:txBody>
                  <a:tcPr marL="137160" marR="137160" marT="109728" marB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Verdana" panose="020B0604030504040204"/>
                        </a:defRPr>
                      </a:pPr>
                      <a:r>
                        <a:t>At Production Scale</a:t>
                      </a:r>
                    </a:p>
                  </a:txBody>
                  <a:tcPr marL="137160" marR="137160" marT="109728" marB="109728"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Verdana" panose="020B0604030504040204"/>
                        </a:defRPr>
                      </a:pPr>
                      <a:r>
                        <a:t>Time to Investigate</a:t>
                      </a:r>
                    </a:p>
                  </a:txBody>
                  <a:tcPr marL="137160" marR="137160" marT="109728" marB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Verdana" panose="020B0604030504040204"/>
                        </a:defRPr>
                      </a:pPr>
                      <a:r>
                        <a:t>Manual search across fragmented documentation silos</a:t>
                      </a:r>
                    </a:p>
                  </a:txBody>
                  <a:tcPr marL="137160" marR="137160" marT="109728" marB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Verdana" panose="020B0604030504040204"/>
                        </a:defRPr>
                      </a:pPr>
                      <a:r>
                        <a:t>Guided evidence search across structured synthetic data</a:t>
                      </a:r>
                    </a:p>
                  </a:txBody>
                  <a:tcPr marL="137160" marR="137160" marT="109728" marB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  <a:latin typeface="Verdana" panose="020B0604030504040204"/>
                        </a:defRPr>
                      </a:pPr>
                      <a:r>
                        <a:t>Automated, real-time investigation across live production systems</a:t>
                      </a:r>
                    </a:p>
                  </a:txBody>
                  <a:tcPr marL="137160" marR="137160" marT="109728" marB="109728"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Verdana" panose="020B0604030504040204"/>
                        </a:defRPr>
                      </a:pPr>
                      <a:r>
                        <a:t>Finding Related Incidents</a:t>
                      </a:r>
                    </a:p>
                  </a:txBody>
                  <a:tcPr marL="137160" marR="137160" marT="109728" marB="109728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Verdana" panose="020B0604030504040204"/>
                        </a:defRPr>
                      </a:pPr>
                      <a:r>
                        <a:t>Manual keyword lookups in disparate tools</a:t>
                      </a:r>
                    </a:p>
                  </a:txBody>
                  <a:tcPr marL="137160" marR="137160" marT="109728" marB="109728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Verdana" panose="020B0604030504040204"/>
                        </a:defRPr>
                      </a:pPr>
                      <a:r>
                        <a:t>Hybrid semantic (Qdrant) + keyword (BM25) retrieval</a:t>
                      </a:r>
                    </a:p>
                  </a:txBody>
                  <a:tcPr marL="137160" marR="137160" marT="109728" marB="109728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  <a:latin typeface="Verdana" panose="020B0604030504040204"/>
                        </a:defRPr>
                      </a:pPr>
                      <a:r>
                        <a:t>Cross-system intelligent retrieval &amp; pattern matching</a:t>
                      </a:r>
                    </a:p>
                  </a:txBody>
                  <a:tcPr marL="137160" marR="137160" marT="109728" marB="109728">
                    <a:solidFill>
                      <a:srgbClr val="162032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Verdana" panose="020B0604030504040204"/>
                        </a:defRPr>
                      </a:pPr>
                      <a:r>
                        <a:t>Handling Conflicting Guidance</a:t>
                      </a:r>
                    </a:p>
                  </a:txBody>
                  <a:tcPr marL="137160" marR="137160" marT="109728" marB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Verdana" panose="020B0604030504040204"/>
                        </a:defRPr>
                      </a:pPr>
                      <a:r>
                        <a:t>Engineers manually check and reconcile docs</a:t>
                      </a:r>
                    </a:p>
                  </a:txBody>
                  <a:tcPr marL="137160" marR="137160" marT="109728" marB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Verdana" panose="020B0604030504040204"/>
                        </a:defRPr>
                      </a:pPr>
                      <a:r>
                        <a:t>Contradictions &amp; outdated steps automatically highlighted</a:t>
                      </a:r>
                    </a:p>
                  </a:txBody>
                  <a:tcPr marL="137160" marR="137160" marT="109728" marB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  <a:latin typeface="Verdana" panose="020B0604030504040204"/>
                        </a:defRPr>
                      </a:pPr>
                      <a:r>
                        <a:t>Automated document validation with continuous freshness checks</a:t>
                      </a:r>
                    </a:p>
                  </a:txBody>
                  <a:tcPr marL="137160" marR="137160" marT="109728" marB="109728"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Verdana" panose="020B0604030504040204"/>
                        </a:defRPr>
                      </a:pPr>
                      <a:r>
                        <a:t>Confidence in Conclusions</a:t>
                      </a:r>
                    </a:p>
                  </a:txBody>
                  <a:tcPr marL="137160" marR="137160" marT="109728" marB="109728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Verdana" panose="020B0604030504040204"/>
                        </a:defRPr>
                      </a:pPr>
                      <a:r>
                        <a:t>Depends on individual engineer memory &amp; intuition</a:t>
                      </a:r>
                    </a:p>
                  </a:txBody>
                  <a:tcPr marL="137160" marR="137160" marT="109728" marB="109728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Verdana" panose="020B0604030504040204"/>
                        </a:defRPr>
                      </a:pPr>
                      <a:r>
                        <a:t>Evidence-backed conclusions citing specific Document IDs</a:t>
                      </a:r>
                    </a:p>
                  </a:txBody>
                  <a:tcPr marL="137160" marR="137160" marT="109728" marB="109728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  <a:latin typeface="Verdana" panose="020B0604030504040204"/>
                        </a:defRPr>
                      </a:pPr>
                      <a:r>
                        <a:t>Continuously validated findings with automated remediation options</a:t>
                      </a:r>
                    </a:p>
                  </a:txBody>
                  <a:tcPr marL="137160" marR="137160" marT="109728" marB="109728"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Verdana" panose="020B0604030504040204"/>
              </a:defRPr>
            </a:pPr>
            <a:r>
              <a:t>SYSTEM ARCHITECTURE &amp;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 panose="02040502050405020303"/>
              </a:defRPr>
            </a:pPr>
            <a:r>
              <a:t>LangGraph Workflow Coordinates Four Specialized Agents Powered by Hybrid Retrieval Engines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4150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431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Verdana" panose="020B0604030504040204"/>
              </a:defRPr>
            </a:pPr>
            <a:r>
              <a:t>1. Planner Agent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Verdana" panose="020B0604030504040204"/>
              </a:defRPr>
            </a:pPr>
            <a:r>
              <a:t>Parses natural query, breaks into sub-questions, and determines investigation strategy.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67809" y="182880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4969" y="19431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Verdana" panose="020B0604030504040204"/>
              </a:defRPr>
            </a:pPr>
            <a:r>
              <a:t>2. Retrieval Agent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Verdana" panose="020B0604030504040204"/>
              </a:defRPr>
            </a:pPr>
            <a:r>
              <a:t>Executes hybrid search using Qdrant (vectors), BM25 (keywords), and Postgres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2443" y="182880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153" y="19431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Verdana" panose="020B0604030504040204"/>
              </a:defRPr>
            </a:pPr>
            <a:r>
              <a:t>3. Analysis Agent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Verdana" panose="020B0604030504040204"/>
              </a:defRPr>
            </a:pPr>
            <a:r>
              <a:t>Correlates timestamps with releases, evaluates evidence, and flags doc conflicts.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7286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101800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Verdana" panose="020B0604030504040204"/>
              </a:defRPr>
            </a:pPr>
            <a:r>
              <a:t>CORE TECHNICAL STACK &amp; HYBRID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Verdana" panose="020B0604030504040204"/>
              </a:defRPr>
            </a:pPr>
            <a:r>
              <a:t>Frontend &amp; API Layer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Verdana" panose="020B0604030504040204"/>
              </a:defRPr>
            </a:pPr>
            <a:r>
              <a:t>HTML / CSS / JavaScript UI communicates with a high-performance FastAPI backend for orchestration.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663440"/>
            <a:ext cx="3200400" cy="812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Verdana" panose="020B0604030504040204"/>
              </a:defRPr>
            </a:pPr>
            <a:r>
              <a:t>Hybrid Retrieval Engine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Verdana" panose="020B0604030504040204"/>
              </a:defRPr>
            </a:pPr>
            <a:r>
              <a:rPr lang="en-IN"/>
              <a:t>Chroma </a:t>
            </a:r>
            <a:r>
              <a:t>handles dense vector search (semantic context) while BM25 provides sparse keyword index (error codes/params).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46634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Verdana" panose="020B0604030504040204"/>
              </a:defRPr>
            </a:pPr>
            <a:r>
              <a:t>State &amp; Storage Engine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Verdana" panose="020B0604030504040204"/>
              </a:defRPr>
            </a:pPr>
            <a:r>
              <a:t>PostgreSQL manages metadata filtering and investigation state; LangGraph coordinates agent transitions.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Verdana" panose="020B0604030504040204"/>
              </a:defRPr>
            </a:pPr>
            <a:r>
              <a:t>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 panose="02040502050405020303"/>
              </a:defRPr>
            </a:pPr>
            <a:r>
              <a:t>Three-Phase Strategic Roadmap Expands Muggles From Prototype to Automated Remediation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Verdana" panose="020B0604030504040204"/>
              </a:defRPr>
            </a:pPr>
            <a:r>
              <a:t>PHASE 1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  <a:latin typeface="Georgia" panose="02040502050405020303"/>
              </a:defRPr>
            </a:pPr>
            <a:r>
              <a:t>Live System Integrations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sz="1050">
                <a:solidFill>
                  <a:srgbClr val="94A3B8"/>
                </a:solidFill>
                <a:latin typeface="Verdana" panose="020B0604030504040204"/>
              </a:rPr>
              <a:t>Build secure connectors for Jira, GitHub, Slack, ServiceNow, and Confluence.</a:t>
            </a:r>
            <a:endParaRPr sz="1050">
              <a:solidFill>
                <a:srgbClr val="94A3B8"/>
              </a:solidFill>
              <a:latin typeface="Verdana" panose="020B0604030504040204"/>
            </a:endParaRPr>
          </a:p>
          <a:p>
            <a:pPr>
              <a:spcBef>
                <a:spcPts val="1000"/>
              </a:spcBef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sz="1050">
                <a:solidFill>
                  <a:srgbClr val="94A3B8"/>
                </a:solidFill>
                <a:latin typeface="Verdana" panose="020B0604030504040204"/>
              </a:rPr>
              <a:t>Normalize &amp; index incoming organizational data for hybrid retrieval.</a:t>
            </a:r>
            <a:endParaRPr sz="1050">
              <a:solidFill>
                <a:srgbClr val="94A3B8"/>
              </a:solidFill>
              <a:latin typeface="Verdana" panose="020B0604030504040204"/>
            </a:endParaRPr>
          </a:p>
          <a:p>
            <a:pPr>
              <a:spcBef>
                <a:spcPts val="1000"/>
              </a:spcBef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sz="1050">
                <a:solidFill>
                  <a:srgbClr val="94A3B8"/>
                </a:solidFill>
                <a:latin typeface="Verdana" panose="020B0604030504040204"/>
              </a:rPr>
              <a:t>Done when: Responders investigate live incidents using real-time enterprise data.</a:t>
            </a:r>
            <a:endParaRPr sz="1050">
              <a:solidFill>
                <a:srgbClr val="94A3B8"/>
              </a:solidFill>
              <a:latin typeface="Verdana" panose="020B060403050404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0116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Verdana" panose="020B0604030504040204"/>
              </a:defRPr>
            </a:pPr>
            <a:r>
              <a:t>PHASE 2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  <a:latin typeface="Georgia" panose="02040502050405020303"/>
              </a:defRPr>
            </a:pPr>
            <a:r>
              <a:t>Continuous KB Updates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1050">
                <a:solidFill>
                  <a:srgbClr val="94A3B8"/>
                </a:solidFill>
                <a:latin typeface="Verdana" panose="020B0604030504040204"/>
              </a:rPr>
              <a:t>Implement document version tracking, scheduled ingestion, and freshness checks.</a:t>
            </a:r>
            <a:endParaRPr sz="1050">
              <a:solidFill>
                <a:srgbClr val="94A3B8"/>
              </a:solidFill>
              <a:latin typeface="Verdana" panose="020B0604030504040204"/>
            </a:endParaRPr>
          </a:p>
          <a:p>
            <a:pPr>
              <a:spcBef>
                <a:spcPts val="10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1050">
                <a:solidFill>
                  <a:srgbClr val="94A3B8"/>
                </a:solidFill>
                <a:latin typeface="Verdana" panose="020B0604030504040204"/>
              </a:rPr>
              <a:t>Detect superseded runbooks and automatically re-index updated documentation.</a:t>
            </a:r>
            <a:endParaRPr sz="1050">
              <a:solidFill>
                <a:srgbClr val="94A3B8"/>
              </a:solidFill>
              <a:latin typeface="Verdana" panose="020B0604030504040204"/>
            </a:endParaRPr>
          </a:p>
          <a:p>
            <a:pPr>
              <a:spcBef>
                <a:spcPts val="10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1050">
                <a:solidFill>
                  <a:srgbClr val="94A3B8"/>
                </a:solidFill>
                <a:latin typeface="Verdana" panose="020B0604030504040204"/>
              </a:rPr>
              <a:t>Done when: KB auto-refreshes on doc updates, ensuring agents use valid guidance.</a:t>
            </a:r>
            <a:endParaRPr sz="1050">
              <a:solidFill>
                <a:srgbClr val="94A3B8"/>
              </a:solidFill>
              <a:latin typeface="Verdana" panose="020B060403050404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0116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Verdana" panose="020B0604030504040204"/>
              </a:defRPr>
            </a:pPr>
            <a:r>
              <a:t>PHASE 3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  <a:latin typeface="Georgia" panose="02040502050405020303"/>
              </a:defRPr>
            </a:pPr>
            <a:r>
              <a:t>Automated Remediation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34D399"/>
                </a:solidFill>
              </a:rPr>
              <a:t>• </a:t>
            </a:r>
            <a:r>
              <a:rPr sz="1050">
                <a:solidFill>
                  <a:srgbClr val="94A3B8"/>
                </a:solidFill>
                <a:latin typeface="Verdana" panose="020B0604030504040204"/>
              </a:rPr>
              <a:t>Extend agent from investigation to executing approved remediation actions.</a:t>
            </a:r>
            <a:endParaRPr sz="1050">
              <a:solidFill>
                <a:srgbClr val="94A3B8"/>
              </a:solidFill>
              <a:latin typeface="Verdana" panose="020B0604030504040204"/>
            </a:endParaRPr>
          </a:p>
          <a:p>
            <a:pPr>
              <a:spcBef>
                <a:spcPts val="1000"/>
              </a:spcBef>
            </a:pPr>
            <a:r>
              <a:rPr b="1">
                <a:solidFill>
                  <a:srgbClr val="34D399"/>
                </a:solidFill>
              </a:rPr>
              <a:t>• </a:t>
            </a:r>
            <a:r>
              <a:rPr sz="1050">
                <a:solidFill>
                  <a:srgbClr val="94A3B8"/>
                </a:solidFill>
                <a:latin typeface="Verdana" panose="020B0604030504040204"/>
              </a:rPr>
              <a:t>Integrate validated runbooks with human approval gates, audit logs &amp; rollbacks.</a:t>
            </a:r>
            <a:endParaRPr sz="1050">
              <a:solidFill>
                <a:srgbClr val="94A3B8"/>
              </a:solidFill>
              <a:latin typeface="Verdana" panose="020B0604030504040204"/>
            </a:endParaRPr>
          </a:p>
          <a:p>
            <a:pPr>
              <a:spcBef>
                <a:spcPts val="1000"/>
              </a:spcBef>
            </a:pPr>
            <a:r>
              <a:rPr b="1">
                <a:solidFill>
                  <a:srgbClr val="34D399"/>
                </a:solidFill>
              </a:rPr>
              <a:t>• </a:t>
            </a:r>
            <a:r>
              <a:rPr sz="1050">
                <a:solidFill>
                  <a:srgbClr val="94A3B8"/>
                </a:solidFill>
                <a:latin typeface="Verdana" panose="020B0604030504040204"/>
              </a:rPr>
              <a:t>Done when: Agent safely executes verified fixes to restore affected services faster.</a:t>
            </a:r>
            <a:endParaRPr sz="1050">
              <a:solidFill>
                <a:srgbClr val="94A3B8"/>
              </a:solidFill>
              <a:latin typeface="Verdana" panose="020B060403050404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4489</Words>
  <Application>WPS Presentation</Application>
  <PresentationFormat>On-screen Show (4:3)</PresentationFormat>
  <Paragraphs>126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Arial</vt:lpstr>
      <vt:lpstr>Verdana</vt:lpstr>
      <vt:lpstr>Georgia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Srinikhitha Reddy</cp:lastModifiedBy>
  <cp:revision>2</cp:revision>
  <dcterms:created xsi:type="dcterms:W3CDTF">2013-01-27T09:14:00Z</dcterms:created>
  <dcterms:modified xsi:type="dcterms:W3CDTF">2026-09-19T05:24:30Z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6B77E2C5F2664B1B9F90D24C2DB87EB5_12</vt:lpwstr>
  </property>
</Properties>
</file>